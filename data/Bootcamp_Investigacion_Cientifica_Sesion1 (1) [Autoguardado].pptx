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9525">
            <a:solidFill>
              <a:srgbClr val="2340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9525">
            <a:solidFill>
              <a:srgbClr val="2340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9525">
            <a:solidFill>
              <a:srgbClr val="2340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9525">
            <a:solidFill>
              <a:srgbClr val="2340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9525">
            <a:solidFill>
              <a:srgbClr val="2340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9525">
            <a:solidFill>
              <a:srgbClr val="2340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9525">
            <a:solidFill>
              <a:srgbClr val="2340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9525">
            <a:solidFill>
              <a:srgbClr val="2340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365760" y="365760"/>
            <a:ext cx="320040" cy="0"/>
          </a:xfrm>
          <a:prstGeom prst="line">
            <a:avLst/>
          </a:prstGeom>
          <a:noFill/>
          <a:ln w="19050">
            <a:solidFill>
              <a:srgbClr val="4A67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365760" y="365760"/>
            <a:ext cx="0" cy="320040"/>
          </a:xfrm>
          <a:prstGeom prst="line">
            <a:avLst/>
          </a:prstGeom>
          <a:noFill/>
          <a:ln w="19050">
            <a:solidFill>
              <a:srgbClr val="4A67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11503152" y="6492240"/>
            <a:ext cx="320040" cy="0"/>
          </a:xfrm>
          <a:prstGeom prst="line">
            <a:avLst/>
          </a:prstGeom>
          <a:noFill/>
          <a:ln w="19050">
            <a:solidFill>
              <a:srgbClr val="4A67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11823192" y="6172200"/>
            <a:ext cx="0" cy="320040"/>
          </a:xfrm>
          <a:prstGeom prst="line">
            <a:avLst/>
          </a:prstGeom>
          <a:noFill/>
          <a:ln w="19050">
            <a:solidFill>
              <a:srgbClr val="4A678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A6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BOOTCAMP INTERNACIONAL DE INVESTIGACIÓN CIENTÍFICA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1645920"/>
            <a:ext cx="103327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Introducción a la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Investigación Científica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22960" y="333756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7D6E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Cómo elegir y delimitar un tema de investigación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41248" y="4041648"/>
            <a:ext cx="82296" cy="8229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1051560" y="39776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Sesión 1 de 6  ·  90 minutos (60 min exposición + 30 min actividades)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0" y="365760"/>
            <a:ext cx="2011680" cy="2011680"/>
          </a:xfrm>
          <a:prstGeom prst="ellipse">
            <a:avLst/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8732520" y="685800"/>
            <a:ext cx="1371600" cy="1371600"/>
          </a:xfrm>
          <a:prstGeom prst="ellipse">
            <a:avLst/>
          </a:prstGeom>
          <a:ln w="31750">
            <a:solidFill>
              <a:srgbClr val="2FA6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9144000" y="1097280"/>
            <a:ext cx="548640" cy="548640"/>
          </a:xfrm>
          <a:prstGeom prst="ellipse">
            <a:avLst/>
          </a:prstGeom>
          <a:ln w="31750">
            <a:solidFill>
              <a:srgbClr val="2FA6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8732520" y="1371600"/>
            <a:ext cx="1371600" cy="0"/>
          </a:xfrm>
          <a:prstGeom prst="line">
            <a:avLst/>
          </a:prstGeom>
          <a:noFill/>
          <a:ln w="19050">
            <a:solidFill>
              <a:srgbClr val="2FA6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9418320" y="685800"/>
            <a:ext cx="0" cy="1371600"/>
          </a:xfrm>
          <a:prstGeom prst="line">
            <a:avLst/>
          </a:prstGeom>
          <a:noFill/>
          <a:ln w="19050">
            <a:solidFill>
              <a:srgbClr val="2FA6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822960" y="4434840"/>
            <a:ext cx="5852160" cy="1554480"/>
          </a:xfrm>
          <a:prstGeom prst="roundRect">
            <a:avLst>
              <a:gd name="adj" fmla="val 4706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1097280" y="4709160"/>
            <a:ext cx="960120" cy="96012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1097280" y="4709160"/>
            <a:ext cx="9601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286000" y="4663440"/>
            <a:ext cx="4206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Katherin Lucielly Peña Román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268855" y="526796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Ponente invitada  ·  Investigadora en formación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0" y="5394960"/>
            <a:ext cx="4206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HOJA DE RUTA DE LA SESIÓN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Qué vamos a construir hoy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8229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D3C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08760" y="1874520"/>
            <a:ext cx="9326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cambio de paradigma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240280"/>
            <a:ext cx="9326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hablar de un tema a resolver una incógnita específica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10881360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8229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D3C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08760" y="2788920"/>
            <a:ext cx="9326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técnica del embudo y la fórmula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154680"/>
            <a:ext cx="9326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Cuatro niveles y cuatro bloques para delimitar cualquier tema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10881360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8229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D3C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508760" y="3703320"/>
            <a:ext cx="9326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Diagnóstico y filtros de calidad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069080"/>
            <a:ext cx="9326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Semáforo diagnóstico, 5 trampas fatales y el filtro FINER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881360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8229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D3C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508760" y="4617720"/>
            <a:ext cx="9326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Puntos clave y fuentes confiables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983480"/>
            <a:ext cx="9326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Qué hacer con poca data y dónde buscar información seria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94960"/>
            <a:ext cx="10881360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640080" y="5532120"/>
            <a:ext cx="8229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D3C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508760" y="5532120"/>
            <a:ext cx="9326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Laboratorio práctico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08760" y="5897880"/>
            <a:ext cx="9326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Tres dinámicas </a:t>
            </a:r>
            <a:r>
              <a:rPr lang="en-US" sz="1250" dirty="0" err="1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guiadas</a:t>
            </a: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cambio de paradigma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6283D"/>
          </a:solidFill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10149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Investigar no es hablar de un tema. Es resolver una incógnita específica.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5257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960120" y="3154680"/>
            <a:ext cx="502920" cy="502920"/>
          </a:xfrm>
          <a:prstGeom prst="ellipse">
            <a:avLst/>
          </a:prstGeom>
          <a:solidFill>
            <a:srgbClr val="C9D3CE"/>
          </a:solidFill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960120" y="31546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1546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Sin foco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794760"/>
            <a:ext cx="4617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 nube de ideas dispersas, referencias sueltas y conexiones sin orden. Fácil perderse, difícil avanzar.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880360"/>
            <a:ext cx="5257800" cy="2423160"/>
          </a:xfrm>
          <a:prstGeom prst="roundRect">
            <a:avLst>
              <a:gd name="adj" fmla="val 3019"/>
            </a:avLst>
          </a:prstGeom>
          <a:solidFill>
            <a:srgbClr val="EAF6F0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6583680" y="3154680"/>
            <a:ext cx="502920" cy="50292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583680" y="31546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69480" y="31546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 coordenada exacta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3794760"/>
            <a:ext cx="46634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5C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 pieza que encaja: una pregunta puntual, medible y accionable que guía cada decisión metodológica.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960120" y="5486400"/>
            <a:ext cx="10241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Regla de oro: una buena pregunta de investigación representa el 50% del éxito de todo el proyecto.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DIAGNÓSTICO DE ENFOQUE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¿Tema o problema? La anatomía del enfoque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0F2F1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4617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97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tema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834640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METÁFORA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3127248"/>
            <a:ext cx="4617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mapa de un continente entero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3703320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NATURALEZA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3995928"/>
            <a:ext cx="4617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Área general y expansiva (fácil perderse)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4572000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4864608"/>
            <a:ext cx="4617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“La inteligencia artificial en la educación”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19659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EAF6F0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583680" y="2194560"/>
            <a:ext cx="4617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A5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problema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2834640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METÁFORA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3127248"/>
            <a:ext cx="4617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Una coordenada exacta en el GPS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NATURALEZA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0" y="3995928"/>
            <a:ext cx="4617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Duda específica y acotada (accionable)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83680" y="4572000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4864608"/>
            <a:ext cx="4617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“¿Cómo influye el uso de ChatGPT en la redacción de ensayos de alumnos de primer año de secundaria?”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MÉTODO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técnica del embudo: de lo global a lo investigable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D9DEDC"/>
          </a:solidFill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4352544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Nivel 1 · Tema global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92624" y="1783080"/>
            <a:ext cx="3046781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Educación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39405" y="1783080"/>
            <a:ext cx="326440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Mucho ruido, inmanejable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25880" y="2697480"/>
            <a:ext cx="9509760" cy="777240"/>
          </a:xfrm>
          <a:prstGeom prst="roundRect">
            <a:avLst>
              <a:gd name="adj" fmla="val 11765"/>
            </a:avLst>
          </a:prstGeom>
          <a:solidFill>
            <a:srgbClr val="BFD9CD"/>
          </a:solidFill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600200" y="2697480"/>
            <a:ext cx="3803904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Nivel 2 · Subtema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9784" y="2697480"/>
            <a:ext cx="2662733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Deserción escolar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92517" y="2697480"/>
            <a:ext cx="285292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recorta el universo temático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0" y="3611880"/>
            <a:ext cx="8138160" cy="777240"/>
          </a:xfrm>
          <a:prstGeom prst="roundRect">
            <a:avLst>
              <a:gd name="adj" fmla="val 11765"/>
            </a:avLst>
          </a:prstGeom>
          <a:solidFill>
            <a:srgbClr val="7FC4A0"/>
          </a:solidFill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2286000" y="3611880"/>
            <a:ext cx="3255264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Nivel 3 · Población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66944" y="3611880"/>
            <a:ext cx="227868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¿A quiénes afecta?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45629" y="3611880"/>
            <a:ext cx="244144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Adolescentes de 15 a 17 años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97480" y="45262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2971800" y="4526280"/>
            <a:ext cx="2706624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Nivel 4 · Espacio y tiempo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04104" y="4526280"/>
            <a:ext cx="1894637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¿Dónde y cuándo?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98741" y="4526280"/>
            <a:ext cx="202996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Colegio X, ciudad Y, año 2024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F7A5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Resultado: la pregunta de investigación purificada.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CONCEPTO CLAVE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Variable independiente y variable dependiente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 pregunta de investigación causal relaciona dos elementos: uno que actúa como causa y otro que actúa como efecto. Identificarlos con claridad define tu diseño metodológico.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960120" y="2788920"/>
            <a:ext cx="594360" cy="59436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2816352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Variable independiente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520440"/>
            <a:ext cx="4663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 la causa presunta: la que el investigador observa, manipula o usa como predictor. No depende de otras variables del estudio.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512064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FA6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Pregúntate: ¿qué factor podría estar generando el cambio?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251460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F7A56"/>
          </a:solidFill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6583680" y="2788920"/>
            <a:ext cx="594360" cy="594360"/>
          </a:xfrm>
          <a:prstGeom prst="ellipse">
            <a:avLst/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583680" y="278892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60920" y="2816352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Variable dependiente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3520440"/>
            <a:ext cx="4663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1F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 el efecto o resultado: la que se mide para observar si cambia en función de la variable independiente.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0" y="512064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6EF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Pregúntate: ¿qué resultado quiero observar o medir?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3560" y="3794760"/>
            <a:ext cx="640080" cy="640080"/>
          </a:xfrm>
          <a:prstGeom prst="ellipse">
            <a:avLst/>
          </a:prstGeom>
          <a:solidFill>
            <a:srgbClr val="F5F7F6"/>
          </a:solidFill>
          <a:ln w="25400">
            <a:solidFill>
              <a:srgbClr val="2FA6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5623560" y="37947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7A5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Identificando las variables en la práctica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INDEPENDIENTE (X)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4400" y="2258568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1097280" y="2258568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Uso de videojuegos de estrategia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57800" y="2240280"/>
            <a:ext cx="548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A67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0" y="1965960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DEPENDIENTE (Y)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2258568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F7A56"/>
          </a:solidFill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126480" y="2258568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Desarrollo del pensamiento lógico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2862072"/>
            <a:ext cx="9692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niños de 10 años en la ciudad de Cali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273552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14400" y="345643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INDEPENDIENTE (X)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1097280" y="3749040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Implementación del gobierno digital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57800" y="3730752"/>
            <a:ext cx="548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A67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0" y="345643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DEPENDIENTE (Y)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37490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F7A56"/>
          </a:solidFill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6126480" y="3749040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Eficiencia administrativa de los funcionarios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4352544"/>
            <a:ext cx="9692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la Municipalidad de Puente Piedra, 2025-2026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764024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914400" y="4946904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INDEPENDIENTE (X)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5239512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1097280" y="5239512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Estrategia de marketing con influencers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257800" y="5221224"/>
            <a:ext cx="548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A67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943600" y="4946904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 DEPENDIENTE (Y)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0" y="5239512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F7A56"/>
          </a:solidFill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6126480" y="5239512"/>
            <a:ext cx="3840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Intención de compra de cosméticos eco-amigables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14400" y="5843016"/>
            <a:ext cx="9692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jóvenes de Lima Metropolitana de 18 a 25 años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ESTRUCTURA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fórmula matemática de la pregunta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1577340" y="2331720"/>
            <a:ext cx="640080" cy="64008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577340" y="23317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2148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Pregunta 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20574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C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dirección del estudio (¿De qué manera...?, ¿Cuál es la relación...?, ¿Cómo influye...?)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3383280"/>
            <a:ext cx="2011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55848" y="201168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4293108" y="2331720"/>
            <a:ext cx="640080" cy="64008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293108" y="23317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38728" y="3154680"/>
            <a:ext cx="2148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variable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84448" y="3749040"/>
            <a:ext cx="20574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C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fenómeno exacto que mides (rendimiento, estrés, uso de apps)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70448" y="3383280"/>
            <a:ext cx="2011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71616" y="201168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F7A56"/>
          </a:solidFill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008876" y="2331720"/>
            <a:ext cx="640080" cy="64008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7008876" y="23317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54496" y="3154680"/>
            <a:ext cx="2148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Unidad de análisis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0216" y="3749040"/>
            <a:ext cx="20574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C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 sujetos que experimentan el fenómeno (estudiantes, docentes, empresas)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86216" y="3383280"/>
            <a:ext cx="2011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B7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787384" y="201168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9724644" y="2331720"/>
            <a:ext cx="640080" cy="64008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9724644" y="23317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A6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970264" y="3154680"/>
            <a:ext cx="2148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contexto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015984" y="3749040"/>
            <a:ext cx="20574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C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 coordenadas de validación: dónde y cuándo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PRÁCTICA GUIADA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Arma tu pregunta de investigación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60120" y="2011680"/>
            <a:ext cx="4617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· GESTIÓN PÚBLICA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2316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1143000" y="2423160"/>
            <a:ext cx="4251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¿De qué manera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3355848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1F7A56"/>
          </a:solidFill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143000" y="3355848"/>
            <a:ext cx="4251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implementación del gobierno digital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4288536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1143000" y="4288536"/>
            <a:ext cx="4251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afecta la eficiencia administrativa de los funcionarios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5221224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1143000" y="5221224"/>
            <a:ext cx="4251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la Municipalidad de Puente Piedra durante el periodo 2025-2026?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6583680" y="2011680"/>
            <a:ext cx="4617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· MARKETING Y CONSUMO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0" y="242316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6766560" y="2423160"/>
            <a:ext cx="4251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¿Cómo influye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3355848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1F7A56"/>
          </a:solidFill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6766560" y="3355848"/>
            <a:ext cx="4251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estrategia de marketing de contenidos con influencers de estilo de vida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4288536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766560" y="4288536"/>
            <a:ext cx="4251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la intención de compra de productos cosméticos eco-amigables en jóvenes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5221224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6766560" y="5221224"/>
            <a:ext cx="4251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Lima Metropolitana entre los 18 y 25 </a:t>
            </a:r>
            <a:r>
              <a:rPr lang="en-US" sz="115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años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5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el 2026?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3D57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3D57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3D57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3D57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A6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ANÁLISIS DE SINTAXIS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Mapeo de sintaxis en acción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1024128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C4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¿Qué relación existe </a:t>
            </a:r>
            <a:r>
              <a:rPr lang="en-US" sz="2200" dirty="0">
                <a:solidFill>
                  <a:srgbClr val="E6ECE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entre el </a:t>
            </a:r>
            <a:r>
              <a:rPr lang="en-US" sz="2200" b="1" dirty="0">
                <a:solidFill>
                  <a:srgbClr val="F2C87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uso de videojuegos de estrategia</a:t>
            </a:r>
            <a:r>
              <a:rPr lang="en-US" sz="2200" dirty="0">
                <a:solidFill>
                  <a:srgbClr val="E6ECE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y el </a:t>
            </a:r>
            <a:r>
              <a:rPr lang="en-US" sz="2200" b="1" dirty="0">
                <a:solidFill>
                  <a:srgbClr val="F2C87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desarrollo del pensamiento lógico</a:t>
            </a:r>
            <a:r>
              <a:rPr lang="en-US" sz="2200" dirty="0">
                <a:solidFill>
                  <a:srgbClr val="E6ECE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en </a:t>
            </a:r>
            <a:r>
              <a:rPr lang="en-US" sz="2200" b="1" dirty="0">
                <a:solidFill>
                  <a:srgbClr val="E38B7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niños de 10 años</a:t>
            </a:r>
            <a:r>
              <a:rPr lang="en-US" sz="2200" dirty="0">
                <a:solidFill>
                  <a:srgbClr val="E6ECE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en la </a:t>
            </a:r>
            <a:r>
              <a:rPr lang="en-US" sz="2200" b="1" dirty="0">
                <a:solidFill>
                  <a:srgbClr val="6FB7D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ciudad de Cali </a:t>
            </a:r>
            <a:r>
              <a:rPr lang="en-US" sz="2200" b="1" dirty="0" err="1">
                <a:solidFill>
                  <a:srgbClr val="6FB7D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</a:t>
            </a:r>
            <a:r>
              <a:rPr lang="en-US" sz="2200" b="1" dirty="0">
                <a:solidFill>
                  <a:srgbClr val="6FB7D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el 2026</a:t>
            </a:r>
            <a:r>
              <a:rPr lang="en-US" sz="2200" dirty="0">
                <a:solidFill>
                  <a:srgbClr val="E6ECE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7FC4A0"/>
          </a:solidFill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26060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Pregunta base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3749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2C879"/>
          </a:solidFill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3337560" y="3749040"/>
            <a:ext cx="26060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Las variables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3749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38B7A"/>
          </a:solidFill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035040" y="3749040"/>
            <a:ext cx="26060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Unidad de análisis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32520" y="3749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6FB7DE"/>
          </a:solidFill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732520" y="3749040"/>
            <a:ext cx="26060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contexto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 bloque de color corresponde a una pieza de la fórmula. Si puedes subrayar los cuatro colores en tu propia pregunta, está bien construida.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AUTOEVALUACIÓN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semáforo diagnóstico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914400" y="2290572"/>
            <a:ext cx="402336" cy="402336"/>
          </a:xfrm>
          <a:prstGeom prst="ellipse">
            <a:avLst/>
          </a:prstGeom>
          <a:solidFill>
            <a:srgbClr val="E05A4E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508760" y="19659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Alerta · Peligro crítico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08760" y="2331720"/>
            <a:ext cx="4023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¿Los videojuegos son malos?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0" cy="105156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035040" y="1783080"/>
            <a:ext cx="525780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Falla estructural: opinión cerrada. Exige un juicio subjetivo, no un análisis empírico.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914400" y="3890772"/>
            <a:ext cx="402336" cy="402336"/>
          </a:xfrm>
          <a:prstGeom prst="ellipse">
            <a:avLst/>
          </a:prstGeom>
          <a:solidFill>
            <a:srgbClr val="E8B33D"/>
          </a:solidFill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1508760" y="35661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Precaución · Ambigüedad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508760" y="3931920"/>
            <a:ext cx="4023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¿Cómo afectan los videojuegos a los niños?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3566160"/>
            <a:ext cx="0" cy="105156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6035040" y="3383280"/>
            <a:ext cx="525780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Falla estructural: vaguedad. ¿Qué tipo de videojuegos? ¿Qué rango de edad? ¿En qué dimensión?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914400" y="5490972"/>
            <a:ext cx="402336" cy="40233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1508760" y="51663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Vía libre · Precisión total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08760" y="5532120"/>
            <a:ext cx="4023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¿Qué relación existe entre el uso de videojuegos de estrategia y el desarrollo del pensamiento lógico en niños de 10 años </a:t>
            </a:r>
            <a:r>
              <a:rPr lang="en-US" sz="1100" i="1" dirty="0" err="1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</a:t>
            </a:r>
            <a:r>
              <a:rPr lang="en-US" sz="110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Cali </a:t>
            </a:r>
            <a:r>
              <a:rPr lang="en-US" sz="1100" i="1" dirty="0" err="1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</a:t>
            </a:r>
            <a:r>
              <a:rPr lang="en-US" sz="110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2026?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5166360"/>
            <a:ext cx="0" cy="105156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035040" y="4983480"/>
            <a:ext cx="525780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Veredicto: altamente operable. Variables medibles y contexto acotado.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CLÍNICA DE INVESTIGACIÓN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 trampas fatales al elegir tu problema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7EA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E8B33D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29443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océano de conocimiento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294436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Intentar resolver un problema mundial en una tesis de grado.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1874520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7EA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4389120" y="2103120"/>
            <a:ext cx="502920" cy="502920"/>
          </a:xfrm>
          <a:prstGeom prst="ellipse">
            <a:avLst/>
          </a:prstGeom>
          <a:solidFill>
            <a:srgbClr val="E8B33D"/>
          </a:solidFill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389120" y="21031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2743200"/>
            <a:ext cx="29443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respuesta obvia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389120" y="3108960"/>
            <a:ext cx="294436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Formular una pregunta cuya respuesta se encuentra en Google en 5 minutos.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80960" y="1874520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7EA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7909560" y="2103120"/>
            <a:ext cx="502920" cy="502920"/>
          </a:xfrm>
          <a:prstGeom prst="ellipse">
            <a:avLst/>
          </a:prstGeom>
          <a:solidFill>
            <a:srgbClr val="E8B33D"/>
          </a:solidFill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7909560" y="21031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09560" y="2743200"/>
            <a:ext cx="29443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callejón del sí o no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909560" y="3108960"/>
            <a:ext cx="294436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 la respuesta es una sola palabra, estás haciendo una encuesta simple, no una investigación.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7EA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E8B33D"/>
          </a:solidFill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868680" y="42519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4892040"/>
            <a:ext cx="29443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Juicios de valor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68680" y="5257800"/>
            <a:ext cx="294436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Usar términos polarizados (bueno, malo, mejor, peor) nacidos de la opinión personal.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4023360"/>
            <a:ext cx="3401568" cy="1920240"/>
          </a:xfrm>
          <a:prstGeom prst="roundRect">
            <a:avLst>
              <a:gd name="adj" fmla="val 3810"/>
            </a:avLst>
          </a:prstGeom>
          <a:solidFill>
            <a:srgbClr val="FFF7EA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4389120" y="4251960"/>
            <a:ext cx="502920" cy="502920"/>
          </a:xfrm>
          <a:prstGeom prst="ellipse">
            <a:avLst/>
          </a:prstGeom>
          <a:solidFill>
            <a:srgbClr val="E8B33D"/>
          </a:solidFill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4389120" y="42519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89120" y="4892040"/>
            <a:ext cx="29443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Falla de acceso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389120" y="5257800"/>
            <a:ext cx="294436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Proponer un estudio fenomenal para el cual no tienes permisos ni acceso a los datos reales.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FILTRO DE VIABILIDAD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filtro FINER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1298448" y="2240280"/>
            <a:ext cx="731520" cy="73152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298448" y="224028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17739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Factible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1682496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¿Es logísticamente posible realizarlo con el tiempo y presupuesto actual?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16352" y="192024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3474720" y="2240280"/>
            <a:ext cx="731520" cy="73152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953512" y="3154680"/>
            <a:ext cx="17739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Interesante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99232" y="3657600"/>
            <a:ext cx="1682496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¿Existe pasión e intriga personal por sostener el esfuerzo a largo plazo?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92624" y="192024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5650992" y="2240280"/>
            <a:ext cx="731520" cy="73152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5650992" y="224028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29784" y="3154680"/>
            <a:ext cx="17739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Novedoso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75504" y="3657600"/>
            <a:ext cx="1682496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¿Aporta un ángulo nuevo o un dato fresco al cuerpo de conocimiento?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68896" y="192024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7827264" y="2240280"/>
            <a:ext cx="731520" cy="73152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7827264" y="224028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06056" y="3154680"/>
            <a:ext cx="17739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Ético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51776" y="3657600"/>
            <a:ext cx="1682496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¿La recolección de datos respeta la integridad y privacidad de la muestra?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345168" y="192024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10003536" y="2240280"/>
            <a:ext cx="731520" cy="73152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10003536" y="224028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482328" y="3154680"/>
            <a:ext cx="17739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Relevante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28048" y="3657600"/>
            <a:ext cx="1682496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¿La resolución de esta incógnita tiene una utilidad práctica en el mundo real?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anatomía del problema perfecto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pregunta ideal no nace de la inspiración divina: es el centro exacto donde el alcance está delimitado, la sintaxis es matemática y la viabilidad está comprobada.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920240" y="2286000"/>
            <a:ext cx="3840480" cy="3840480"/>
          </a:xfrm>
          <a:prstGeom prst="ellipse">
            <a:avLst/>
          </a:prstGeom>
          <a:solidFill>
            <a:srgbClr val="E4E9E7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2468880" y="2834640"/>
            <a:ext cx="2743200" cy="2743200"/>
          </a:xfrm>
          <a:prstGeom prst="ellipse">
            <a:avLst/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3063240" y="3429000"/>
            <a:ext cx="1554480" cy="155448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6949440" y="2514600"/>
            <a:ext cx="201168" cy="201168"/>
          </a:xfrm>
          <a:prstGeom prst="ellipse">
            <a:avLst/>
          </a:prstGeom>
          <a:solidFill>
            <a:srgbClr val="8A97A0"/>
          </a:solidFill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7269480" y="2395728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alcance (embudo)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49440" y="3383280"/>
            <a:ext cx="201168" cy="201168"/>
          </a:xfrm>
          <a:prstGeom prst="ellipse">
            <a:avLst/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7269480" y="3264408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estructura (fórmula)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49440" y="4251960"/>
            <a:ext cx="201168" cy="201168"/>
          </a:xfrm>
          <a:prstGeom prst="ellipse">
            <a:avLst/>
          </a:prstGeom>
          <a:solidFill>
            <a:srgbClr val="1F7A56"/>
          </a:solidFill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7269480" y="4133088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calidad (FINER)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ANTES DE CONTINUAR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Puntos importantes a considerar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EAF6F0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4709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7A5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¿Poca data sobre tu tema?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470916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4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Amplía el término de búsqueda a sinónimos y conceptos relacionados, revisa literatura internacional aunque tu caso sea local, y usa estudios de temas análogos como marco de referencia. Si sigue sin haber información, replantea la pregunta a un fenómeno con mayor trayectoria académica.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EAF6F0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4709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7A5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¿Población de difícil acceso?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70916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4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Evalúa si puedes trabajar con una muestra representativa más pequeña, aliarte con una institución que ya tenga contacto con esa población, o ajustar la unidad de análisis sin perder el fenómeno central que quieres estudiar.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EAF6F0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914400" y="4343400"/>
            <a:ext cx="4709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7A5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¿Tema demasiado nuevo o emergente?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4800600"/>
            <a:ext cx="470916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4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Apóyate en papers preprint (SSRN, arXiv), notas de prensa especializada y reportes de organismos internacionales mientras la literatura académica revisada por pares se pone al día.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41605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EAF6F0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537960" y="4343400"/>
            <a:ext cx="4709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7A5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¿Dudas sobre la viabilidad ética?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37960" y="4800600"/>
            <a:ext cx="4709160" cy="1325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4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Consulta el comité de ética de tu facultad antes de diseñar instrumentos, y prevé el consentimiento informado desde la formulación del problema, no después.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ANTES DE CONTINUAR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Dónde buscar fuentes confiables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896112" y="2130552"/>
            <a:ext cx="457200" cy="457200"/>
          </a:xfrm>
          <a:prstGeom prst="ellipse">
            <a:avLst/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896112" y="213055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093976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Google Scholar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2971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Buscador académico general, útil como punto de partida y para ver citaciones.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06824" y="18745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4562856" y="2130552"/>
            <a:ext cx="457200" cy="457200"/>
          </a:xfrm>
          <a:prstGeom prst="ellipse">
            <a:avLst/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562856" y="213055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75504" y="2093976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Scielo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81144" y="2788920"/>
            <a:ext cx="2971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Revistas científicas de acceso abierto de América Latina, ideal para contexto regional.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73568" y="18745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8229600" y="2130552"/>
            <a:ext cx="457200" cy="457200"/>
          </a:xfrm>
          <a:prstGeom prst="ellipse">
            <a:avLst/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8229600" y="213055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✱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42248" y="2093976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Redalyc / Dialnet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2788920"/>
            <a:ext cx="2971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Bases de datos iberoamericanas con artículos revisados por pares.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822192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896112" y="4078224"/>
            <a:ext cx="457200" cy="457200"/>
          </a:xfrm>
          <a:prstGeom prst="ellipse">
            <a:avLst/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896112" y="407822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✱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08760" y="4041648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Repositorios institucionales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736592"/>
            <a:ext cx="2971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Tesis y trabajos de grado de universidades (RENATI, RENACYT en Perú).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06824" y="3822192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4562856" y="4078224"/>
            <a:ext cx="457200" cy="457200"/>
          </a:xfrm>
          <a:prstGeom prst="ellipse">
            <a:avLst/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4562856" y="407822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✱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175504" y="4041648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JSTOR / ScienceDirect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81144" y="4736592"/>
            <a:ext cx="2971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Bases internacionales con artículos indexados de alto rigor (acceso institucional).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73568" y="3822192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4" name="Shape 32"/>
          <p:cNvSpPr/>
          <p:nvPr/>
        </p:nvSpPr>
        <p:spPr>
          <a:xfrm>
            <a:off x="8229600" y="4078224"/>
            <a:ext cx="457200" cy="457200"/>
          </a:xfrm>
          <a:prstGeom prst="ellipse">
            <a:avLst/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8229600" y="407822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✱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842248" y="4041648"/>
            <a:ext cx="2423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Organismos oficiales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47888" y="4736592"/>
            <a:ext cx="2971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INEI, CEPAL, BID, ONU, Banco Mundial: buena fuente de datos estadísticos y reportes.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Prioriza siempre fuentes primarias (estudios originales) sobre secundarias (resúmenes o notas de prensa) para sostener tu marco teórico.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DINÁMICA 1 · ROMPEHIELO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detective de preguntas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326880" y="685800"/>
            <a:ext cx="2194560" cy="502920"/>
          </a:xfrm>
          <a:prstGeom prst="roundRect">
            <a:avLst>
              <a:gd name="adj" fmla="val 54545"/>
            </a:avLst>
          </a:prstGeom>
          <a:solidFill>
            <a:srgbClr val="EAF6F0"/>
          </a:solidFill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326880" y="68580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102412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Objetivo: distinguir en segundos si un enunciado es un tema (mapa) o un problema (coordenada) usando lo aprendido en la anatomía del enfoque.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3246120"/>
            <a:ext cx="9692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Presentación relámpago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538728"/>
            <a:ext cx="9692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facilitador proyecta 6 enunciados, uno por uno (ver siguientes slides), mezclando temas y problemas reales.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4114800"/>
            <a:ext cx="9692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Veredicto por voz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407408"/>
            <a:ext cx="9692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Quien identifica la respuesta enciende su micrófono y responde en voz alta: ¿tema o problema?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45920" y="4983480"/>
            <a:ext cx="9692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Justificación express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5276088"/>
            <a:ext cx="9692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mismo participante explica en 15 segundos qué faltó o sobró para volverlo un problema.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Materiales: 6 enunciados proyectados (ver slides siguientes), micrófono habilitado para los participantes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DINÁMICA 1 · ENUNCIADOS 1-3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¿Tema o problema? Ronda 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960120" y="2199132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60120" y="2199132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28800" y="1874520"/>
            <a:ext cx="90525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contaminación ambiental en las ciudades.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960120" y="3662172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960120" y="3662172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28800" y="3337560"/>
            <a:ext cx="90525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¿De qué manera influye el uso de bicicletas compartidas en la reducción de tiempos de traslado de los trabajadores de Bogotá durante 2025?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960120" y="5125212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60120" y="5125212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828800" y="4800600"/>
            <a:ext cx="90525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 salud mental de los jóvenes.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DINÁMICA 1 · ENUNCIADOS 4-6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¿Tema o problema? Ronda 2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960120" y="2199132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60120" y="2199132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28800" y="1874520"/>
            <a:ext cx="90525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¿Cuál es la relación entre las horas de exposición a redes sociales y los niveles de ansiedad autopercibida en estudiantes universitarios de Lima Metropolitana en el semestre 2025-II?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960120" y="3662172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960120" y="3662172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28800" y="3337560"/>
            <a:ext cx="90525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 emprendimiento femenino en América Latina.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960120" y="5125212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60120" y="5125212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828800" y="4800600"/>
            <a:ext cx="90525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¿Cómo influye el acceso a microcréditos en la formalización de negocios liderados por mujeres en zonas rurales de Cusco entre 2023 y 2025?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DINÁMICA 2 · CASOS APLICADOS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Casos para armar la pregunta de investigación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326880" y="685800"/>
            <a:ext cx="2194560" cy="502920"/>
          </a:xfrm>
          <a:prstGeom prst="roundRect">
            <a:avLst>
              <a:gd name="adj" fmla="val 54545"/>
            </a:avLst>
          </a:prstGeom>
          <a:solidFill>
            <a:srgbClr val="EAF6F0"/>
          </a:solidFill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326880" y="68580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102412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Objetivo: construir en vivo, con la participación de la sala, una pregunta de investigación a partir de casos reales, aplicando el embudo y la fórmula matemática.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3246120"/>
            <a:ext cx="9692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Presentación del caso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538728"/>
            <a:ext cx="9692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facilitador proyecta un caso con un contexto breve (ver siguientes slides).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4114800"/>
            <a:ext cx="9692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Propuesta por voz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407408"/>
            <a:ext cx="9692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Quien tenga una idea enciende su micrófono y propone el subtema, la población o el contexto de espacio y tiempo.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45920" y="4983480"/>
            <a:ext cx="9692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Ensamblaje en vivo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5276088"/>
            <a:ext cx="9692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 los aportes de la sala, el facilitador arma la pregunta final usando los 4 bloques de la fórmula.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Materiales: Casos proyectados (ver slides siguientes), micrófono habilitado para los participantes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DINÁMICA 2 · CASOS 1-2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Arma la pregunta: casos 1 y 2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28800" y="2130552"/>
            <a:ext cx="9052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CASO 1 · EDUCACIÓN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441448"/>
            <a:ext cx="90525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municipio de la costa peruana reporta un aumento sostenido en la deserción escolar de nivel secundario desde la pandemia.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3063240"/>
            <a:ext cx="9052560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1828800" y="3200400"/>
            <a:ext cx="9052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¿Qué subtema, población y contexto de espacio-tiempo propondrías para este caso?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960120" y="4343400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28800" y="4325112"/>
            <a:ext cx="9052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CASO 2 · TRABAJO Y ECONOMÍA DIGITAL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4636008"/>
            <a:ext cx="90525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 empresa de delivery ha notado que sus repartidores reportan altos niveles de estrés laboral en los meses de alta demanda.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0" y="5257800"/>
            <a:ext cx="9052560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1828800" y="5394960"/>
            <a:ext cx="9052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¿Qué subtema, población y contexto de espacio-tiempo propondrías para este caso?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DINÁMICA 2 · CASOS 3-4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Arma la pregunta: casos 3 y 4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28800" y="2130552"/>
            <a:ext cx="9052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CASO 3 · POLÍTICA SOCIAL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441448"/>
            <a:ext cx="90525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gobierno regional busca evaluar el impacto de sus programas de transferencias monetarias condicionadas en la nutrición infantil.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3063240"/>
            <a:ext cx="9052560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1828800" y="3200400"/>
            <a:ext cx="9052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¿Qué subtema, población y contexto de espacio-tiempo propondrías para este caso?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960120" y="4343400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28800" y="4325112"/>
            <a:ext cx="9052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CASO 4 · EDUCACIÓN Y TECNOLOGÍA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4636008"/>
            <a:ext cx="905256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2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 universidad detecta que el uso de inteligencia artificial generativa se ha triplicado entre sus estudiantes en el último año.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0" y="5257800"/>
            <a:ext cx="9052560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1828800" y="5394960"/>
            <a:ext cx="9052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¿Qué subtema, población y contexto de espacio-tiempo propondrías para este caso?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DINÁMICA 3 · DIAGNÓSTICO EN VIVO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Semáforo en vivo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9326880" y="685800"/>
            <a:ext cx="2194560" cy="502920"/>
          </a:xfrm>
          <a:prstGeom prst="roundRect">
            <a:avLst>
              <a:gd name="adj" fmla="val 54545"/>
            </a:avLst>
          </a:prstGeom>
          <a:solidFill>
            <a:srgbClr val="EAF6F0"/>
          </a:solidFill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326880" y="68580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102412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Objetivo: diagnosticar en vivo, con la participación de toda la sala, la calidad de una pregunta de investigación usando el semáforo diagnóstico.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3246120"/>
            <a:ext cx="9692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Pregunta voluntaria o de ejemplo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538728"/>
            <a:ext cx="9692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participante enciende su micrófono y comparte una pregunta propia, o el facilitador proyecta una de las preguntas de ejemplo (ver siguientes slides).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4114800"/>
            <a:ext cx="9692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Diagnóstico por voz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407408"/>
            <a:ext cx="9692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Otros participantes encienden su micrófono para decir si la pregunta está en rojo, ámbar o verde, y por qué.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45920" y="4983480"/>
            <a:ext cx="9692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Mejora colectiva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5276088"/>
            <a:ext cx="9692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Entre todos proponen ajustes en vivo hasta lograr que la pregunta llegue al semáforo verde.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Materiales: Preguntas de ejemplo proyectadas (ver slides siguientes), micrófono habilitado para todos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DINÁMICA 3 · PREGUNTAS 1-2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Diagnostica estas preguntas: ronda 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960120" y="2564892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60120" y="2564892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28800" y="1874520"/>
            <a:ext cx="9052560" cy="1965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¿La corrupción en los gobiernos locales es un problema estructural?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960120" y="4759452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960120" y="4759452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28800" y="4069080"/>
            <a:ext cx="9052560" cy="1965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¿Cómo impacta la participación ciudadana en la gestión municipal?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DINÁMICA 3 · PREGUNTAS 3-4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Diagnostica estas preguntas: ronda 2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960120" y="2564892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60120" y="2564892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28800" y="1874520"/>
            <a:ext cx="9052560" cy="1965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¿De qué manera influye la implementación de presupuestos participativos en el nivel de confianza institucional de los vecinos del distrito de San Juan de Lurigancho entre 2022 y 2024?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E1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960120" y="4759452"/>
            <a:ext cx="585216" cy="585216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960120" y="4759452"/>
            <a:ext cx="585216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28800" y="4069080"/>
            <a:ext cx="9052560" cy="1965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¿Es más eficiente el sector público o el privado?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C9D3C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CIERRE DE LA PRÁCTICA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8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Tu laboratorio de preguntas: secuencia de acción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2578608" cy="3657600"/>
          </a:xfrm>
          <a:prstGeom prst="roundRect">
            <a:avLst>
              <a:gd name="adj" fmla="val 2837"/>
            </a:avLst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1609344" y="2286000"/>
            <a:ext cx="640080" cy="64008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609344" y="22860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22128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Paso 1 · Aislar el tema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2121408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Escribe tu área de interés general en una sola frase.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63824" y="3474720"/>
            <a:ext cx="24688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A6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55848" y="1965960"/>
            <a:ext cx="2578608" cy="3657600"/>
          </a:xfrm>
          <a:prstGeom prst="roundRect">
            <a:avLst>
              <a:gd name="adj" fmla="val 2837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4325112" y="2286000"/>
            <a:ext cx="640080" cy="64008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325112" y="22860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38728" y="3108960"/>
            <a:ext cx="22128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Paso 2 · Aplicar el embudo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121408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Anota tu población específica y dibuja las coordenadas de lugar y tiempo.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79592" y="3474720"/>
            <a:ext cx="24688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A6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71616" y="1965960"/>
            <a:ext cx="2578608" cy="3657600"/>
          </a:xfrm>
          <a:prstGeom prst="roundRect">
            <a:avLst>
              <a:gd name="adj" fmla="val 2837"/>
            </a:avLst>
          </a:prstGeom>
          <a:solidFill>
            <a:srgbClr val="16283D"/>
          </a:solidFill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040880" y="2286000"/>
            <a:ext cx="640080" cy="64008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7040880" y="22860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54496" y="3108960"/>
            <a:ext cx="22128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Paso 3 · Prototipar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00216" y="3794760"/>
            <a:ext cx="2121408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Redacta 3 versiones distintas de tu pregunta usando los 4 bloques de la fórmula.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95360" y="3474720"/>
            <a:ext cx="24688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A6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787384" y="1965960"/>
            <a:ext cx="2578608" cy="3657600"/>
          </a:xfrm>
          <a:prstGeom prst="roundRect">
            <a:avLst>
              <a:gd name="adj" fmla="val 2837"/>
            </a:avLst>
          </a:prstGeom>
          <a:solidFill>
            <a:srgbClr val="1F3B57"/>
          </a:solidFill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9756648" y="2286000"/>
            <a:ext cx="640080" cy="640080"/>
          </a:xfrm>
          <a:prstGeom prst="ellipse">
            <a:avLst/>
          </a:prstGeom>
          <a:solidFill>
            <a:srgbClr val="2FA678"/>
          </a:solidFill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9756648" y="22860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970264" y="3108960"/>
            <a:ext cx="22128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Paso 4 · Test de estrés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015984" y="3794760"/>
            <a:ext cx="2121408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Pasa tus prototipos por el filtro FINER y evalúalos con el semáforo. Elimina las luces rojas.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SCIENTIA  ·  BOOTCAMP INTERNACIONAL DE INVESTIGACIÓN CIENTÍFICA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0" cy="0"/>
          </a:xfrm>
          <a:prstGeom prst="line">
            <a:avLst/>
          </a:prstGeom>
          <a:noFill/>
          <a:ln w="19050">
            <a:solidFill>
              <a:srgbClr val="3D57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0" cy="320040"/>
          </a:xfrm>
          <a:prstGeom prst="line">
            <a:avLst/>
          </a:prstGeom>
          <a:noFill/>
          <a:ln w="19050">
            <a:solidFill>
              <a:srgbClr val="3D57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1548872" y="6537960"/>
            <a:ext cx="320040" cy="0"/>
          </a:xfrm>
          <a:prstGeom prst="line">
            <a:avLst/>
          </a:prstGeom>
          <a:noFill/>
          <a:ln w="19050">
            <a:solidFill>
              <a:srgbClr val="3D57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1868912" y="6217920"/>
            <a:ext cx="0" cy="320040"/>
          </a:xfrm>
          <a:prstGeom prst="line">
            <a:avLst/>
          </a:prstGeom>
          <a:noFill/>
          <a:ln w="19050">
            <a:solidFill>
              <a:srgbClr val="3D57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2FA6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criterio final de diseño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busques el problema perfecto.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Busca un problema que puedas resolver.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37360" y="3977640"/>
            <a:ext cx="8686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rigor metodológico sirve para garantizar que tu investigación llegue a la meta, no para paralizarla en la línea de salida. Empieza a filtrar hoy.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0" y="5120640"/>
            <a:ext cx="1371600" cy="0"/>
          </a:xfrm>
          <a:prstGeom prst="line">
            <a:avLst/>
          </a:prstGeom>
          <a:noFill/>
          <a:ln w="25400">
            <a:solidFill>
              <a:srgbClr val="2FA67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737360" y="534924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Katherin Lucielly Peña Román  ·  Via Scientia  ·  Bootcamp Internacional de Investigación Científica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2660</Words>
  <Application>Microsoft Office PowerPoint</Application>
  <PresentationFormat>Panorámica</PresentationFormat>
  <Paragraphs>407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Katherin Peña</cp:lastModifiedBy>
  <cp:revision>3</cp:revision>
  <dcterms:created xsi:type="dcterms:W3CDTF">2026-08-15T21:24:00Z</dcterms:created>
  <dcterms:modified xsi:type="dcterms:W3CDTF">2026-08-16T22:24:04Z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E6072637352C4BECB7255067600F4D84_12</vt:lpwstr>
  </property>
  <property fmtid="{D5CDD505-2E9C-101B-9397-08002B2CF9AE}" pid="3" name="KSOProductBuildVer">
    <vt:lpwstr>2058-12.1.0.28032</vt:lpwstr>
  </property>
</Properties>
</file>